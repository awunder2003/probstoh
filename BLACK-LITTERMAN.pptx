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19:16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19:30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24575,'0'-2'0,"0"1"0,1-1 0,-1 1 0,0 0 0,0-1 0,1 1 0,-1 0 0,0-1 0,1 1 0,-1 0 0,1-1 0,0 1 0,-1 0 0,1 0 0,0 0 0,0 0 0,0 0 0,0 0 0,0 0 0,1-2 0,1 2 0,-1 0 0,1-1 0,-1 1 0,1 0 0,0 0 0,-1 0 0,1 0 0,0 1 0,4-1 0,5 0 0,0 1 0,0 0 0,22 4 0,-33-4 6,-1 0 0,1 0 0,0 0 0,0 0 0,-1 0 0,1 0-1,0 1 1,-1-1 0,1 0 0,-1 0 0,1 1 0,0-1 0,-1 1 0,1-1-1,-1 0 1,1 1 0,-1-1 0,1 1 0,-1-1 0,1 1 0,-1-1 0,1 1 0,-1 0-1,0-1 1,1 1 0,-1 0 0,0-1 0,0 1 0,1 0 0,-1-1 0,0 1-1,0 0 1,0-1 0,0 1 0,0 0 0,0-1 0,0 1 0,0 0 0,0-1 0,0 1-1,0 0 1,-1-1 0,1 1 0,0 0 0,0-1 0,-1 1 0,1 0 0,0-1-1,-1 1 1,1-1 0,-1 2 0,-4 6-126,0 0 0,-1 0-1,-7 9 1,2-4-1070,3 1-5636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19:40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19:42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20:11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23:20:22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B59C9-DAF5-4EE5-9FD1-99995B2B429C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CF6D4-D678-4530-9E60-C007814B5C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0434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8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2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1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4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23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5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7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334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11" r:id="rId4"/>
    <p:sldLayoutId id="2147483712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customXml" Target="../ink/ink1.xml"/><Relationship Id="rId12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3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4.png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98C10BD4-F3F8-4089-8DB0-71FB15FD9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762ABF6-377E-ADF1-7C9D-DDD5CE0B4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753" y="4177552"/>
            <a:ext cx="5686605" cy="1880347"/>
          </a:xfrm>
        </p:spPr>
        <p:txBody>
          <a:bodyPr anchor="ctr">
            <a:normAutofit/>
          </a:bodyPr>
          <a:lstStyle/>
          <a:p>
            <a:pPr algn="r"/>
            <a:r>
              <a:rPr lang="hu-HU"/>
              <a:t>BLACK-LITTERMAN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E01A410-3C2C-DD7B-8BD1-74ADA9A6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5215" y="4536140"/>
            <a:ext cx="3262385" cy="1250950"/>
          </a:xfrm>
        </p:spPr>
        <p:txBody>
          <a:bodyPr anchor="ctr">
            <a:normAutofit/>
          </a:bodyPr>
          <a:lstStyle/>
          <a:p>
            <a:r>
              <a:rPr lang="hu-HU"/>
              <a:t>MODELL</a:t>
            </a:r>
          </a:p>
        </p:txBody>
      </p:sp>
      <p:pic>
        <p:nvPicPr>
          <p:cNvPr id="1032" name="Picture 8" descr="Fischer Black - Wikipedia">
            <a:extLst>
              <a:ext uri="{FF2B5EF4-FFF2-40B4-BE49-F238E27FC236}">
                <a16:creationId xmlns:a16="http://schemas.microsoft.com/office/drawing/2014/main" id="{49C77832-6CF5-6BBD-BEDA-F9F91813C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9488" y="803388"/>
            <a:ext cx="1822702" cy="280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idy Man Icon, Do Not Litter Symbol Stock Vector - Illustration of basket,  caution: 112427309">
            <a:extLst>
              <a:ext uri="{FF2B5EF4-FFF2-40B4-BE49-F238E27FC236}">
                <a16:creationId xmlns:a16="http://schemas.microsoft.com/office/drawing/2014/main" id="{C29F81F3-4D13-068A-ABD4-CE43BCFFE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1953" y="803388"/>
            <a:ext cx="2675208" cy="280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76A5D06F-DF26-4A88-BF73-C1B592E66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1900" y="4536141"/>
            <a:ext cx="0" cy="125095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59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488307-E7A4-C4E9-8E98-73D7F533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PROBLÉMÁK AZ MPT-VEL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841372-6976-8848-FCFD-E73F9077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758" y="2065984"/>
            <a:ext cx="10427841" cy="2059449"/>
          </a:xfrm>
        </p:spPr>
        <p:txBody>
          <a:bodyPr>
            <a:normAutofit/>
          </a:bodyPr>
          <a:lstStyle/>
          <a:p>
            <a:r>
              <a:rPr lang="hu-HU" sz="3200" dirty="0">
                <a:solidFill>
                  <a:schemeClr val="tx1"/>
                </a:solidFill>
              </a:rPr>
              <a:t>A várható hozamot historikus adatok alapján becsülni nem feltétlenül célravezető.</a:t>
            </a:r>
          </a:p>
          <a:p>
            <a:r>
              <a:rPr lang="hu-HU" sz="3200" dirty="0">
                <a:solidFill>
                  <a:schemeClr val="tx1"/>
                </a:solidFill>
              </a:rPr>
              <a:t>Irreális, extrém nagy súlyú pozíciók.</a:t>
            </a:r>
          </a:p>
          <a:p>
            <a:endParaRPr lang="hu-HU" sz="3200" dirty="0">
              <a:solidFill>
                <a:schemeClr val="tx1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607503C-1EEC-E9C4-795C-68BEED6AD554}"/>
              </a:ext>
            </a:extLst>
          </p:cNvPr>
          <p:cNvSpPr txBox="1"/>
          <p:nvPr/>
        </p:nvSpPr>
        <p:spPr>
          <a:xfrm>
            <a:off x="849758" y="4455042"/>
            <a:ext cx="7623544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</a:rPr>
              <a:t>Black-</a:t>
            </a:r>
            <a:r>
              <a:rPr lang="hu-HU" sz="3200" dirty="0" err="1">
                <a:solidFill>
                  <a:srgbClr val="7030A0"/>
                </a:solidFill>
              </a:rPr>
              <a:t>Litterman</a:t>
            </a:r>
            <a:r>
              <a:rPr lang="hu-HU" sz="3200" dirty="0">
                <a:solidFill>
                  <a:srgbClr val="7030A0"/>
                </a:solidFill>
              </a:rPr>
              <a:t> </a:t>
            </a:r>
            <a:r>
              <a:rPr lang="hu-HU" sz="3200" dirty="0">
                <a:solidFill>
                  <a:schemeClr val="bg2"/>
                </a:solidFill>
              </a:rPr>
              <a:t>kezeli ezeket</a:t>
            </a:r>
            <a:endParaRPr lang="hu-H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56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B8508A-566A-2811-8083-EE04FE69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Jelölések - piac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2AB1E7-B2C3-10EE-3B98-199C3CA3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: kovarianciamátrix</a:t>
            </a:r>
          </a:p>
          <a:p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: piaci egyensúlyból implikált várható hozamok </a:t>
            </a:r>
            <a:r>
              <a:rPr lang="hu-HU" sz="3200" dirty="0" err="1">
                <a:solidFill>
                  <a:schemeClr val="tx1"/>
                </a:solidFill>
                <a:sym typeface="Symbol" panose="05050102010706020507" pitchFamily="18" charset="2"/>
              </a:rPr>
              <a:t>vektora</a:t>
            </a:r>
            <a:endParaRPr lang="hu-HU" sz="3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/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=w</a:t>
            </a:r>
          </a:p>
          <a:p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: a piac bizonytalanságát súlyozó paraméter</a:t>
            </a:r>
          </a:p>
          <a:p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: </a:t>
            </a:r>
            <a:r>
              <a:rPr lang="hu-HU" sz="3200" dirty="0" err="1">
                <a:solidFill>
                  <a:schemeClr val="tx1"/>
                </a:solidFill>
                <a:sym typeface="Symbol" panose="05050102010706020507" pitchFamily="18" charset="2"/>
              </a:rPr>
              <a:t>posterior</a:t>
            </a:r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 hozam (ismeretlen)</a:t>
            </a:r>
          </a:p>
          <a:p>
            <a:r>
              <a:rPr lang="hu-HU" sz="3200" dirty="0">
                <a:solidFill>
                  <a:schemeClr val="tx1"/>
                </a:solidFill>
                <a:sym typeface="Symbol" panose="05050102010706020507" pitchFamily="18" charset="2"/>
              </a:rPr>
              <a:t>N(,)</a:t>
            </a:r>
          </a:p>
          <a:p>
            <a:pPr lvl="8"/>
            <a:endParaRPr lang="hu-HU" dirty="0">
              <a:solidFill>
                <a:schemeClr val="bg1"/>
              </a:solidFill>
              <a:sym typeface="Symbol" panose="05050102010706020507" pitchFamily="18" charset="2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6668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CD4569-845B-A2D2-8139-9F5F26B3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Jelölések - befektető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87C46C-3BDF-455B-22A8-315C10D0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q, P: befektető várakozásainak mátrixai</a:t>
            </a:r>
          </a:p>
          <a:p>
            <a:r>
              <a:rPr lang="hu-HU" dirty="0">
                <a:solidFill>
                  <a:schemeClr val="tx1"/>
                </a:solidFill>
                <a:sym typeface="Symbol" panose="05050102010706020507" pitchFamily="18" charset="2"/>
              </a:rPr>
              <a:t>: bizonytalansági mátrix</a:t>
            </a:r>
            <a:endParaRPr lang="hu-H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hu-HU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</a:p>
          <a:p>
            <a:endParaRPr lang="hu-HU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hu-HU" dirty="0">
                <a:solidFill>
                  <a:schemeClr val="tx1"/>
                </a:solidFill>
              </a:rPr>
              <a:t>Q</a:t>
            </a:r>
            <a:r>
              <a:rPr lang="hu-HU" dirty="0">
                <a:solidFill>
                  <a:schemeClr val="tx1"/>
                </a:solidFill>
                <a:sym typeface="Symbol" panose="05050102010706020507" pitchFamily="18" charset="2"/>
              </a:rPr>
              <a:t>N(P,)</a:t>
            </a:r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2F5DD41-24AB-3B59-F9E8-ECAE8008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86" y="3562625"/>
            <a:ext cx="2114845" cy="37152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40846F2-0D09-3917-FB72-B387FF0D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86" y="3137753"/>
            <a:ext cx="3343742" cy="304843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3C9FF3B-3819-19B2-DBE6-4060EB713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15" y="3173372"/>
            <a:ext cx="237034" cy="2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5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0B1AF3-DD98-5A27-BE7D-FE81C742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tx1"/>
                </a:solidFill>
              </a:rPr>
              <a:t>Bayes</a:t>
            </a:r>
            <a:r>
              <a:rPr lang="hu-HU" dirty="0">
                <a:solidFill>
                  <a:schemeClr val="tx1"/>
                </a:solidFill>
              </a:rPr>
              <a:t>-tétel használata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E84312-74C2-3F16-2281-C42DA1FE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200" dirty="0" err="1">
                <a:solidFill>
                  <a:schemeClr val="tx1"/>
                </a:solidFill>
              </a:rPr>
              <a:t>Posterior</a:t>
            </a:r>
            <a:r>
              <a:rPr lang="hu-HU" sz="3200" dirty="0">
                <a:solidFill>
                  <a:schemeClr val="tx1"/>
                </a:solidFill>
              </a:rPr>
              <a:t> eloszlás – normális</a:t>
            </a:r>
          </a:p>
          <a:p>
            <a:r>
              <a:rPr lang="hu-HU" sz="3200" dirty="0">
                <a:solidFill>
                  <a:schemeClr val="tx1"/>
                </a:solidFill>
              </a:rPr>
              <a:t> </a:t>
            </a:r>
          </a:p>
          <a:p>
            <a:r>
              <a:rPr lang="hu-HU" sz="3200" dirty="0" err="1">
                <a:solidFill>
                  <a:schemeClr val="tx1"/>
                </a:solidFill>
              </a:rPr>
              <a:t>Bayes</a:t>
            </a:r>
            <a:r>
              <a:rPr lang="hu-HU" sz="3200" dirty="0">
                <a:solidFill>
                  <a:schemeClr val="tx1"/>
                </a:solidFill>
              </a:rPr>
              <a:t>-formula alapján: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89FEEC9-DDAA-FD1E-0341-C4B27829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87" y="2876611"/>
            <a:ext cx="4900057" cy="57897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631ACFE-6B71-18C3-48D5-74FCBA6B9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178" y="1994022"/>
            <a:ext cx="4426487" cy="1201476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BF404CB-B105-2F05-6ECF-CCF274EA9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266" y="3579178"/>
            <a:ext cx="4739276" cy="85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5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814221E4-F799-A5D6-ADF4-0115A5FDFC57}"/>
              </a:ext>
            </a:extLst>
          </p:cNvPr>
          <p:cNvSpPr/>
          <p:nvPr/>
        </p:nvSpPr>
        <p:spPr>
          <a:xfrm>
            <a:off x="595422" y="3773976"/>
            <a:ext cx="3332143" cy="70326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FD1BB2A8-31D7-D95D-E3E0-23C3B24CC408}"/>
              </a:ext>
            </a:extLst>
          </p:cNvPr>
          <p:cNvSpPr/>
          <p:nvPr/>
        </p:nvSpPr>
        <p:spPr>
          <a:xfrm>
            <a:off x="595423" y="3823491"/>
            <a:ext cx="995991" cy="7994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658F956-CF9A-F832-BEA3-9E4AC9A8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07" y="444417"/>
            <a:ext cx="10427840" cy="1086056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Egydimenziós eset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504771-B788-B327-A2DE-AF18B655A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>
                <a:solidFill>
                  <a:schemeClr val="tx1"/>
                </a:solidFill>
              </a:rPr>
              <a:t>Konstansok elhagyhatók, mivel csak az eloszlás maximuma számít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325F399-D8E2-14D0-143B-18265BA7D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7" y="2700399"/>
            <a:ext cx="3189768" cy="83066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34417EC-0C60-2880-0BA9-B2F704B2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79" y="4023074"/>
            <a:ext cx="843293" cy="32643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6F2F18D0-BF1F-FA54-0F68-5BE8B5AF0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73" y="3844302"/>
            <a:ext cx="2339994" cy="764997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DB064823-E9A1-4371-71CA-E91C8257F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07" y="1773381"/>
            <a:ext cx="4201111" cy="581106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2B246E44-69EA-C0D7-BEAE-3DC70CB2D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7843" y="3101961"/>
            <a:ext cx="3286584" cy="847843"/>
          </a:xfrm>
          <a:prstGeom prst="rect">
            <a:avLst/>
          </a:prstGeom>
        </p:spPr>
      </p:pic>
      <p:sp>
        <p:nvSpPr>
          <p:cNvPr id="19" name="Nyíl: jobbra mutató 18">
            <a:extLst>
              <a:ext uri="{FF2B5EF4-FFF2-40B4-BE49-F238E27FC236}">
                <a16:creationId xmlns:a16="http://schemas.microsoft.com/office/drawing/2014/main" id="{2FE895E3-BED5-5A27-3EC2-68A72A4A45A6}"/>
              </a:ext>
            </a:extLst>
          </p:cNvPr>
          <p:cNvSpPr/>
          <p:nvPr/>
        </p:nvSpPr>
        <p:spPr>
          <a:xfrm>
            <a:off x="3927566" y="3347314"/>
            <a:ext cx="3078570" cy="27545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Szabadkéz 9">
                <a:extLst>
                  <a:ext uri="{FF2B5EF4-FFF2-40B4-BE49-F238E27FC236}">
                    <a16:creationId xmlns:a16="http://schemas.microsoft.com/office/drawing/2014/main" id="{3BAB6D55-5B80-0FC7-69EC-5987B945BFE1}"/>
                  </a:ext>
                </a:extLst>
              </p14:cNvPr>
              <p14:cNvContentPartPr/>
              <p14:nvPr/>
            </p14:nvContentPartPr>
            <p14:xfrm>
              <a:off x="4629155" y="3828800"/>
              <a:ext cx="360" cy="360"/>
            </p14:xfrm>
          </p:contentPart>
        </mc:Choice>
        <mc:Fallback xmlns="">
          <p:pic>
            <p:nvPicPr>
              <p:cNvPr id="10" name="Szabadkéz 9">
                <a:extLst>
                  <a:ext uri="{FF2B5EF4-FFF2-40B4-BE49-F238E27FC236}">
                    <a16:creationId xmlns:a16="http://schemas.microsoft.com/office/drawing/2014/main" id="{3BAB6D55-5B80-0FC7-69EC-5987B945BF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4835" y="382448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Szabadkéz 13">
                <a:extLst>
                  <a:ext uri="{FF2B5EF4-FFF2-40B4-BE49-F238E27FC236}">
                    <a16:creationId xmlns:a16="http://schemas.microsoft.com/office/drawing/2014/main" id="{56AA936F-6E6B-E3B8-DC4A-859D1CCBD861}"/>
                  </a:ext>
                </a:extLst>
              </p14:cNvPr>
              <p14:cNvContentPartPr/>
              <p14:nvPr/>
            </p14:nvContentPartPr>
            <p14:xfrm>
              <a:off x="3736715" y="3811520"/>
              <a:ext cx="47160" cy="36000"/>
            </p14:xfrm>
          </p:contentPart>
        </mc:Choice>
        <mc:Fallback xmlns="">
          <p:pic>
            <p:nvPicPr>
              <p:cNvPr id="14" name="Szabadkéz 13">
                <a:extLst>
                  <a:ext uri="{FF2B5EF4-FFF2-40B4-BE49-F238E27FC236}">
                    <a16:creationId xmlns:a16="http://schemas.microsoft.com/office/drawing/2014/main" id="{56AA936F-6E6B-E3B8-DC4A-859D1CCBD8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32395" y="3807200"/>
                <a:ext cx="558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77094891-8762-4D01-E1D5-884E8D46A50F}"/>
              </a:ext>
            </a:extLst>
          </p:cNvPr>
          <p:cNvGrpSpPr/>
          <p:nvPr/>
        </p:nvGrpSpPr>
        <p:grpSpPr>
          <a:xfrm>
            <a:off x="3754747" y="3856340"/>
            <a:ext cx="12960" cy="9360"/>
            <a:chOff x="3754747" y="3856340"/>
            <a:chExt cx="12960" cy="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Szabadkéz 14">
                  <a:extLst>
                    <a:ext uri="{FF2B5EF4-FFF2-40B4-BE49-F238E27FC236}">
                      <a16:creationId xmlns:a16="http://schemas.microsoft.com/office/drawing/2014/main" id="{1BC739D1-9356-CBED-FDB8-081A0F2805D0}"/>
                    </a:ext>
                  </a:extLst>
                </p14:cNvPr>
                <p14:cNvContentPartPr/>
                <p14:nvPr/>
              </p14:nvContentPartPr>
              <p14:xfrm>
                <a:off x="3767347" y="3856340"/>
                <a:ext cx="360" cy="360"/>
              </p14:xfrm>
            </p:contentPart>
          </mc:Choice>
          <mc:Fallback xmlns="">
            <p:pic>
              <p:nvPicPr>
                <p:cNvPr id="15" name="Szabadkéz 14">
                  <a:extLst>
                    <a:ext uri="{FF2B5EF4-FFF2-40B4-BE49-F238E27FC236}">
                      <a16:creationId xmlns:a16="http://schemas.microsoft.com/office/drawing/2014/main" id="{1BC739D1-9356-CBED-FDB8-081A0F2805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63027" y="38520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Szabadkéz 16">
                  <a:extLst>
                    <a:ext uri="{FF2B5EF4-FFF2-40B4-BE49-F238E27FC236}">
                      <a16:creationId xmlns:a16="http://schemas.microsoft.com/office/drawing/2014/main" id="{BB2F0B1E-EDEF-B05B-5459-23DD187CCDEB}"/>
                    </a:ext>
                  </a:extLst>
                </p14:cNvPr>
                <p14:cNvContentPartPr/>
                <p14:nvPr/>
              </p14:nvContentPartPr>
              <p14:xfrm>
                <a:off x="3754747" y="3864620"/>
                <a:ext cx="360" cy="1080"/>
              </p14:xfrm>
            </p:contentPart>
          </mc:Choice>
          <mc:Fallback xmlns="">
            <p:pic>
              <p:nvPicPr>
                <p:cNvPr id="17" name="Szabadkéz 16">
                  <a:extLst>
                    <a:ext uri="{FF2B5EF4-FFF2-40B4-BE49-F238E27FC236}">
                      <a16:creationId xmlns:a16="http://schemas.microsoft.com/office/drawing/2014/main" id="{BB2F0B1E-EDEF-B05B-5459-23DD187CCD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50427" y="3860300"/>
                  <a:ext cx="9000" cy="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365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D93F27-0B80-95AA-601B-36D25C04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648B22-EBB9-1B7A-1298-A32C37015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8257"/>
            <a:ext cx="10427841" cy="3903298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/>
                </a:solidFill>
              </a:rPr>
              <a:t>1.: Térjünk át logaritmusra!</a:t>
            </a:r>
          </a:p>
          <a:p>
            <a:r>
              <a:rPr lang="hu-HU" sz="2400" dirty="0">
                <a:solidFill>
                  <a:schemeClr val="tx1"/>
                </a:solidFill>
              </a:rPr>
              <a:t>2.: Vegyük x szerinti deriváltját! </a:t>
            </a:r>
          </a:p>
          <a:p>
            <a:pPr marL="0" indent="0">
              <a:buNone/>
            </a:pPr>
            <a:endParaRPr lang="hu-HU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hu-HU" sz="2400" dirty="0">
                <a:solidFill>
                  <a:schemeClr val="tx1"/>
                </a:solidFill>
              </a:rPr>
              <a:t>Innen azt kapjuk, hogy: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22E76B8-6B77-E3E8-D87D-60E8361C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442" y="876302"/>
            <a:ext cx="5130800" cy="1702597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70BE317-761B-E498-FA3B-8B45273FB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6" y="4202047"/>
            <a:ext cx="3309930" cy="117017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AD2065A-665E-FBD2-6ED7-29F27ABB7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151" y="4186974"/>
            <a:ext cx="7420705" cy="118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6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A93C-CE9C-215C-DE23-74D9677A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AE87E0-7FF1-A9A2-5B2A-95F3739E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Több dimenziós eset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92F0E75-92DC-B06E-262B-879BB9165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760" y="2746972"/>
            <a:ext cx="7583180" cy="688657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CE32936-E33F-07F3-09D2-B3113BCFAAAB}"/>
              </a:ext>
            </a:extLst>
          </p:cNvPr>
          <p:cNvSpPr txBox="1"/>
          <p:nvPr/>
        </p:nvSpPr>
        <p:spPr>
          <a:xfrm>
            <a:off x="849760" y="2052084"/>
            <a:ext cx="2584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Az eredmény: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08A67BB-A520-5896-FB4C-2641BA947E52}"/>
              </a:ext>
            </a:extLst>
          </p:cNvPr>
          <p:cNvSpPr txBox="1"/>
          <p:nvPr/>
        </p:nvSpPr>
        <p:spPr>
          <a:xfrm>
            <a:off x="849760" y="3545743"/>
            <a:ext cx="2957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Összevetésként: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ACD46162-23DA-F393-4979-AF8F148D6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60" y="4240632"/>
            <a:ext cx="926911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9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CCBAA-3613-DFAA-2888-896D9AA2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9A532A-5F8C-F262-F43B-58FE902E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Bizonyítás: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9D2D59D4-9ADB-AFA6-3882-08AC8076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3200" dirty="0" err="1">
                <a:solidFill>
                  <a:schemeClr val="tx1"/>
                </a:solidFill>
              </a:rPr>
              <a:t>Bayestől</a:t>
            </a:r>
            <a:r>
              <a:rPr lang="hu-HU" sz="32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A7726A9-7CCC-3918-93F2-AA963626CCA4}"/>
              </a:ext>
            </a:extLst>
          </p:cNvPr>
          <p:cNvSpPr txBox="1"/>
          <p:nvPr/>
        </p:nvSpPr>
        <p:spPr>
          <a:xfrm>
            <a:off x="3411421" y="303824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1 x N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02873CF-3276-35D7-7A12-10595A227338}"/>
              </a:ext>
            </a:extLst>
          </p:cNvPr>
          <p:cNvSpPr txBox="1"/>
          <p:nvPr/>
        </p:nvSpPr>
        <p:spPr>
          <a:xfrm>
            <a:off x="4680157" y="3059668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N x N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1F8935B-74B9-5527-0879-6E7A31BAA0C6}"/>
              </a:ext>
            </a:extLst>
          </p:cNvPr>
          <p:cNvSpPr txBox="1"/>
          <p:nvPr/>
        </p:nvSpPr>
        <p:spPr>
          <a:xfrm>
            <a:off x="5975776" y="305966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N x 1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ACB965C-A371-9465-1812-C97AFB0B7AEE}"/>
              </a:ext>
            </a:extLst>
          </p:cNvPr>
          <p:cNvSpPr txBox="1"/>
          <p:nvPr/>
        </p:nvSpPr>
        <p:spPr>
          <a:xfrm>
            <a:off x="8105795" y="3007855"/>
            <a:ext cx="102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 x K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8CC0AC1-2AFE-9D90-A0C9-08F03E0886CE}"/>
              </a:ext>
            </a:extLst>
          </p:cNvPr>
          <p:cNvSpPr txBox="1"/>
          <p:nvPr/>
        </p:nvSpPr>
        <p:spPr>
          <a:xfrm>
            <a:off x="7130298" y="2163102"/>
            <a:ext cx="266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(K x 1- K x N x N x 1)^T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E981FF4C-9CAF-80D5-1493-D5A607DEF44F}"/>
              </a:ext>
            </a:extLst>
          </p:cNvPr>
          <p:cNvSpPr txBox="1"/>
          <p:nvPr/>
        </p:nvSpPr>
        <p:spPr>
          <a:xfrm>
            <a:off x="8285333" y="254140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||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D97682C-4209-5989-8B65-9C8B47FE9DB0}"/>
              </a:ext>
            </a:extLst>
          </p:cNvPr>
          <p:cNvSpPr txBox="1"/>
          <p:nvPr/>
        </p:nvSpPr>
        <p:spPr>
          <a:xfrm>
            <a:off x="9278715" y="3038248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 K x K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A159F8A-345B-BC8E-44BE-21A818AB84DB}"/>
              </a:ext>
            </a:extLst>
          </p:cNvPr>
          <p:cNvSpPr txBox="1"/>
          <p:nvPr/>
        </p:nvSpPr>
        <p:spPr>
          <a:xfrm>
            <a:off x="9881799" y="2163102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 x 1- K x N x N x 1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E01575E-52CD-9B4B-CFBC-CAECB844784D}"/>
              </a:ext>
            </a:extLst>
          </p:cNvPr>
          <p:cNvSpPr txBox="1"/>
          <p:nvPr/>
        </p:nvSpPr>
        <p:spPr>
          <a:xfrm>
            <a:off x="10789147" y="249098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||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2A05208-D463-389F-0E4F-ED026CB20A1B}"/>
              </a:ext>
            </a:extLst>
          </p:cNvPr>
          <p:cNvSpPr txBox="1"/>
          <p:nvPr/>
        </p:nvSpPr>
        <p:spPr>
          <a:xfrm>
            <a:off x="10586085" y="3003537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 x 1</a:t>
            </a:r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E316D234-E755-5CDE-DAE4-F339BD60F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4" y="3366132"/>
            <a:ext cx="12062612" cy="150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4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0DC58-605A-8837-4C84-B3EDA35B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E58C5E-FDF6-F765-3335-55478BE02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41" y="61924"/>
            <a:ext cx="10427840" cy="1086056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tx1"/>
                </a:solidFill>
              </a:rPr>
              <a:t>Ennek Logderiváltja N dimenzió-s x szerint: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4BDE8FD-F6EB-99DF-8F0E-45F608383713}"/>
              </a:ext>
            </a:extLst>
          </p:cNvPr>
          <p:cNvSpPr txBox="1"/>
          <p:nvPr/>
        </p:nvSpPr>
        <p:spPr>
          <a:xfrm>
            <a:off x="1024135" y="2426881"/>
            <a:ext cx="2265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Átrendezve: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5F120C3-1139-FBD0-7860-E35A0FB0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35" y="3173481"/>
            <a:ext cx="7703259" cy="689618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FA50D9E5-F6CD-129C-1365-208BD572612B}"/>
              </a:ext>
            </a:extLst>
          </p:cNvPr>
          <p:cNvSpPr txBox="1"/>
          <p:nvPr/>
        </p:nvSpPr>
        <p:spPr>
          <a:xfrm>
            <a:off x="990644" y="4037359"/>
            <a:ext cx="7415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Nullára hozva, aztán x szerint átrendezve: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A8B26F8F-A398-97CA-45F1-D32886876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04" y="4888802"/>
            <a:ext cx="5976679" cy="689617"/>
          </a:xfrm>
          <a:prstGeom prst="rect">
            <a:avLst/>
          </a:prstGeom>
        </p:spPr>
      </p:pic>
      <p:sp>
        <p:nvSpPr>
          <p:cNvPr id="13" name="Tartalom helye 12">
            <a:extLst>
              <a:ext uri="{FF2B5EF4-FFF2-40B4-BE49-F238E27FC236}">
                <a16:creationId xmlns:a16="http://schemas.microsoft.com/office/drawing/2014/main" id="{00F7BF0A-EC74-FD1B-0F0B-2C0C036FA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05D3FF6A-26CA-C10D-2654-1D5874D5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1" y="1192602"/>
            <a:ext cx="7220180" cy="774634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27E0EC6E-8ED6-5515-A323-B74C869C0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1" y="3180839"/>
            <a:ext cx="8672300" cy="844085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78B15D70-B09F-BF94-5792-2459350B46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39" y="4888802"/>
            <a:ext cx="7390211" cy="79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7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786B-B714-790C-F48B-B574C4C5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8305C8-3C47-56D3-2737-C82491B3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Így jön a végeredmény: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13A653-014E-B8E1-2C25-9B2B7463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u-HU" sz="2400" dirty="0">
              <a:solidFill>
                <a:schemeClr val="tx1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FA3AF4A-33E7-611C-4BF4-659341A18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58" y="2626242"/>
            <a:ext cx="10741813" cy="12121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5AF1FF4-7426-6CA2-C12E-44908EEC6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3021842"/>
            <a:ext cx="1177806" cy="4922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Szabadkéz 7">
                <a:extLst>
                  <a:ext uri="{FF2B5EF4-FFF2-40B4-BE49-F238E27FC236}">
                    <a16:creationId xmlns:a16="http://schemas.microsoft.com/office/drawing/2014/main" id="{7D45F65E-B0AD-A16C-74EB-9E43976785D8}"/>
                  </a:ext>
                </a:extLst>
              </p14:cNvPr>
              <p14:cNvContentPartPr/>
              <p14:nvPr/>
            </p14:nvContentPartPr>
            <p14:xfrm>
              <a:off x="12830381" y="1828251"/>
              <a:ext cx="360" cy="360"/>
            </p14:xfrm>
          </p:contentPart>
        </mc:Choice>
        <mc:Fallback xmlns="">
          <p:pic>
            <p:nvPicPr>
              <p:cNvPr id="8" name="Szabadkéz 7">
                <a:extLst>
                  <a:ext uri="{FF2B5EF4-FFF2-40B4-BE49-F238E27FC236}">
                    <a16:creationId xmlns:a16="http://schemas.microsoft.com/office/drawing/2014/main" id="{7D45F65E-B0AD-A16C-74EB-9E43976785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26061" y="18239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Szabadkéz 8">
                <a:extLst>
                  <a:ext uri="{FF2B5EF4-FFF2-40B4-BE49-F238E27FC236}">
                    <a16:creationId xmlns:a16="http://schemas.microsoft.com/office/drawing/2014/main" id="{433F87AD-F6DD-96EC-300D-D0922FFF709E}"/>
                  </a:ext>
                </a:extLst>
              </p14:cNvPr>
              <p14:cNvContentPartPr/>
              <p14:nvPr/>
            </p14:nvContentPartPr>
            <p14:xfrm>
              <a:off x="-1261099" y="990891"/>
              <a:ext cx="360" cy="360"/>
            </p14:xfrm>
          </p:contentPart>
        </mc:Choice>
        <mc:Fallback xmlns="">
          <p:pic>
            <p:nvPicPr>
              <p:cNvPr id="9" name="Szabadkéz 8">
                <a:extLst>
                  <a:ext uri="{FF2B5EF4-FFF2-40B4-BE49-F238E27FC236}">
                    <a16:creationId xmlns:a16="http://schemas.microsoft.com/office/drawing/2014/main" id="{433F87AD-F6DD-96EC-300D-D0922FFF7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265419" y="986571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769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7CE36F-FA19-344B-3FC9-D8AAE6E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Köszönjük a figyelmet!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C7D03B-27C0-AA12-0074-E39222B30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2050" name="Picture 2" descr="Portfolio Optimization: The Black-Litterman Allocation Method | by Luís  Fernando Torres | InsiderFinance Wire">
            <a:extLst>
              <a:ext uri="{FF2B5EF4-FFF2-40B4-BE49-F238E27FC236}">
                <a16:creationId xmlns:a16="http://schemas.microsoft.com/office/drawing/2014/main" id="{D95A239B-DDC2-373E-11DA-59F8BEE4F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373086"/>
            <a:ext cx="4976327" cy="27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incs elérhető leírás.">
            <a:extLst>
              <a:ext uri="{FF2B5EF4-FFF2-40B4-BE49-F238E27FC236}">
                <a16:creationId xmlns:a16="http://schemas.microsoft.com/office/drawing/2014/main" id="{046450D2-1066-7A8F-1394-ECFE648B1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109106"/>
            <a:ext cx="4354286" cy="326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50263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211</Words>
  <Application>Microsoft Office PowerPoint</Application>
  <PresentationFormat>Szélesvásznú</PresentationFormat>
  <Paragraphs>55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Arial</vt:lpstr>
      <vt:lpstr>Georgia Pro Light</vt:lpstr>
      <vt:lpstr>Symbol</vt:lpstr>
      <vt:lpstr>VaultVTI</vt:lpstr>
      <vt:lpstr>BLACK-LITTERMAN</vt:lpstr>
      <vt:lpstr>PROBLÉMÁK AZ MPT-VEL</vt:lpstr>
      <vt:lpstr>Jelölések - piac</vt:lpstr>
      <vt:lpstr>Jelölések - befektető</vt:lpstr>
      <vt:lpstr>Bayes-tétel használata</vt:lpstr>
      <vt:lpstr>Egydimenziós eset</vt:lpstr>
      <vt:lpstr>PowerPoint-bemutató</vt:lpstr>
      <vt:lpstr>Több dimenziós eset</vt:lpstr>
      <vt:lpstr>Bizonyítás:</vt:lpstr>
      <vt:lpstr>Ennek Logderiváltja N dimenzió-s x szerint:</vt:lpstr>
      <vt:lpstr>Így jön a végeredmény:</vt:lpstr>
      <vt:lpstr>Köszönjük a figyelmet!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Wunderlich Ábris</dc:creator>
  <cp:lastModifiedBy>Wunderlich Ábris</cp:lastModifiedBy>
  <cp:revision>8</cp:revision>
  <dcterms:created xsi:type="dcterms:W3CDTF">2025-11-03T19:25:01Z</dcterms:created>
  <dcterms:modified xsi:type="dcterms:W3CDTF">2025-11-03T23:24:55Z</dcterms:modified>
</cp:coreProperties>
</file>